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/>
              <a:t>Figure 1. Legacy Standard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0"/>
            <a:ext cx="2468880" cy="11887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Incumbent problem
Historically defensible • optimum may be unidentified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43200" y="2240280"/>
            <a:ext cx="54864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468880" cy="11887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Technology change
Sensing • computation • control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69280" y="2240280"/>
            <a:ext cx="54864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11887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Static audit
Incumbent vs frictionless comparator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95360" y="2240280"/>
            <a:ext cx="54864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468880" cy="11887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Transition audit
Switching • network • safety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800600"/>
            <a:ext cx="7315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Recommend change only with case-compatible transition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/>
              <a:t>Figure 2. Primary-case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BE03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/>
              <a:t>Estimate: 25.7%
95% interval: 18.0%–34.9%
fraction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WK07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/>
              <a:t>Estimate: 0.00250
95% interval: 0.00229–0.00271
normalized cost per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UI01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/>
              <a:t>Estimate: 0.072
95% interval: 0.068–0.076
EUR per MWh baseline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49039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/>
              <a:t>UI09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3484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/>
              <a:t>Estimate: 36.9%
95% interval: 31.7%–39.9%
fraction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430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/>
              <a:t>Figure 4. Frozen-case audit-state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49808"/>
            <a:ext cx="685800" cy="438912"/>
          </a:xfrm>
          <a:prstGeom prst="roundRect">
            <a:avLst/>
          </a:prstGeom>
          <a:solidFill>
            <a:srgbClr val="DCEEF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/>
              <a:t>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749808"/>
            <a:ext cx="2148840" cy="438912"/>
          </a:xfrm>
          <a:prstGeom prst="roundRect">
            <a:avLst/>
          </a:prstGeom>
          <a:solidFill>
            <a:srgbClr val="DCEEF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/>
              <a:t>Technology mechanism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749808"/>
            <a:ext cx="3108960" cy="438912"/>
          </a:xfrm>
          <a:prstGeom prst="roundRect">
            <a:avLst/>
          </a:prstGeom>
          <a:solidFill>
            <a:srgbClr val="DCEEF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/>
              <a:t>Static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749808"/>
            <a:ext cx="2560320" cy="438912"/>
          </a:xfrm>
          <a:prstGeom prst="roundRect">
            <a:avLst/>
          </a:prstGeom>
          <a:solidFill>
            <a:srgbClr val="DCEEF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/>
              <a:t>Transition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749808"/>
            <a:ext cx="2880360" cy="438912"/>
          </a:xfrm>
          <a:prstGeom prst="roundRect">
            <a:avLst/>
          </a:prstGeom>
          <a:solidFill>
            <a:srgbClr val="DCEEF5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/>
              <a:t>Final audit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61872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BE03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261872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Occupancy sensing
and responsive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61872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Perfect-label on-time proxy;
small or uncertain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61872"/>
            <a:ext cx="2560320" cy="658368"/>
          </a:xfrm>
          <a:prstGeom prst="roundRect">
            <a:avLst/>
          </a:prstGeom>
          <a:solidFill>
            <a:srgbClr val="FFF7D6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Level B;
native-unit gate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261872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Small/uncertain
mismatch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79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WK07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011679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Condition sensing
and prognostics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11679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Simulated perfect-RUL oracle;
threshold 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011679"/>
            <a:ext cx="2560320" cy="658368"/>
          </a:xfrm>
          <a:prstGeom prst="roundRect">
            <a:avLst/>
          </a:prstGeom>
          <a:solidFill>
            <a:srgbClr val="FFF7D6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Level B;
native-unit gate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79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Material label
under 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61487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UI01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2761487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Interval metering
and flexible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761487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Fixed-price partial equilibrium;
small or uncertain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61487"/>
            <a:ext cx="2560320" cy="658368"/>
          </a:xfrm>
          <a:prstGeom prst="roundRect">
            <a:avLst/>
          </a:prstGeom>
          <a:solidFill>
            <a:srgbClr val="FFF7D6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Level B;
native-unit gate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61487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Small/uncertain
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511296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UI09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511296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Weather data, model,
and responsive scheduling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511296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Perfect-weather reference crop;
threshold met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511296"/>
            <a:ext cx="2560320" cy="658368"/>
          </a:xfrm>
          <a:prstGeom prst="roundRect">
            <a:avLst/>
          </a:prstGeom>
          <a:solidFill>
            <a:srgbClr val="FFF7D6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Level B;
native-unit gate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511296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Material label
under oracle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261104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TR01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261104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Traffic observation
and responsive allocation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261104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Directional delay proxy;
insufficient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261104"/>
            <a:ext cx="2560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Gate not reached;
static evidence insufficient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261104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Insufficient
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010912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NC01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010912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Compatibility and
network coordination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5010912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No quantified comparator;
insufficient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010912"/>
            <a:ext cx="2560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Gate not reached;
static evidence insufficient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5010912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Insufficient
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5760720"/>
            <a:ext cx="685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/>
              <a:t>NC03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576072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Geometric
self-similarity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5760720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Exact repeated-halving null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760720"/>
            <a:ext cx="2560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Not required for
the narrow null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5760720"/>
            <a:ext cx="2880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No mismatch for
specified 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/>
              <a:t>Figure 3. Pre-specified model sensitivity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BE03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19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/>
              <a:t>08:00-18:00: 0.07839
07:00-19:00: 0.2567
06:00-20:00: 0.3772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5156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WK07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19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/>
              <a:t>cost=2;lead=1: 0.002328
cost=2;lead=5: 0.002231
cost=2;lead=10: 0.002105
cost=5;lead=1: 0.002596
cost=5;lead=5: 0.002499
cost=5;lead=10: 0.002373
cost=10;lead=1: 0.003007
cost=10;lead=5: 0.002911
cost=10;lead=10: 0.002784
cost=20;lead=1: 0.003007
cost=20;lead=5: 0.002911
cost=20;lead=10: 0.002784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UI01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/>
              <a:t>0.005: 0.03592
0.01: 0.07185
0.05: 0.3592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94760"/>
            <a:ext cx="5029200" cy="50292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UI09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38912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/>
              <a:t>median;penalty=2: 0.1888
median;penalty=5: 0.3687
median;penalty=10: 0.5391
mean;penalty=2: 0.1953
mean;penalty=5: 0.4053
mean;penalty=10: 0.5856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