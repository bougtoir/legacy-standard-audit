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Table 1. Legacy Standard Audit stages.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70432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1440"/>
                <a:gridCol w="3901440"/>
                <a:gridCol w="3901440"/>
              </a:tblGrid>
              <a:tr h="9448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Audit stage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Required evidence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Decision output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9448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Historical reconstruction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Objective, information set, feasible set, coordination conditions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Historically defensible incumbent problem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Technology-mediated 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Sensing, computation, communication, automation, adaptive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Changed parameter or feasible-set claim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Static 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Incumbent and contemporary comparator under a common 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Case-specific frictionless regret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Transition 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Switching, compatibility, safety, regulation, network effects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Transition-adjusted regret or break-even condition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Frozen cases, uncertainty, null controls, falsification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Material, uncertain, null, or insufficient classification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Table 2. Frozen case design and evidentiary limits.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70432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950720"/>
                <a:gridCol w="1950720"/>
                <a:gridCol w="1950720"/>
                <a:gridCol w="1950720"/>
              </a:tblGrid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Case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Role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Persisted input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Analysis unit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Contemporary comparator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Critical limitation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BE03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Primary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UCI office occupancy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20,560 minute-observations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Oracle occupancy control, 10-minute 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sensor error, power, commissioning, or installation cost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Primary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NASA C-MAPSS FD001 simulation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100 evaluation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Perfect remaining-life condition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Simulated trajectories; no observed maintenance program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UI01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Primary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OPSD load and day-ahead prices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725 complete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1.0% bounded load shift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Fixed prices; no tariff assignment or customer response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UI09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Primary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NASA POWER weather and FAO-56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135 evaluation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Perfect-weather reference-crop 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crop coefficient, soil storage, efficiency, or yield model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TR01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Supplementary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NYC directional traffic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18 evaluation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Demand-proportional directional allocation proxy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verified intersection or deployed timing plan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NC01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Network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ISO container-standard 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Not estimable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Break-even identity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fleet, conversion, or network-cost data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NC03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Analytic 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ISO 216 geometric principle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Exact analytic 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Positive solution r = √2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Applies only to repeated-halving similarity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Table 3. Case-specific technical benchmark results.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70432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864"/>
                <a:gridCol w="2340864"/>
                <a:gridCol w="2340864"/>
                <a:gridCol w="2340864"/>
                <a:gridCol w="2340864"/>
              </a:tblGrid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Case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Pre-specified metric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Estimate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95% interval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Classification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BE03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Nominal lighting-energy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18.0%–34.9%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small or uncertain mismatch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Static regret, normalized cost/cycle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0.00229–0.00271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material mismatch under oracle benchmark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UI01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Procurement saving, EUR/MWh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0.068–0.076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small or uncertain mismatch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UI09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objective regret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31.7%–39.9%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material mismatch under oracle benchmark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TR01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Delay-proxy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22.3%–31.0%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insufficient evidence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NC01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Static/transition regret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Not estimated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Not estimated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insufficient evidence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NC03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Repeated-halving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4.930e-32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Exact analytic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 mismatch for repeated halving objective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Table 4. Cross-case falsification and source-quality checks.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70432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950720"/>
                <a:gridCol w="1950720"/>
                <a:gridCol w="1950720"/>
                <a:gridCol w="1950720"/>
              </a:tblGrid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Test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Omitted case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Primary retained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Material oracle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Uncertain/insufficient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Interpretation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baseline primary classification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Classification count only; incomparable case outcomes are not pooled into a universal effect size.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leave one case and domain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BE03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leave-one-out result licenses a population causal claim; the frozen cases are a designed audit set.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leave one case and domain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leave-one-out result licenses a population causal claim; the frozen cases are a designed audit set.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leave one case and domain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UI01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leave-one-out result licenses a population causal claim; the frozen cases are a designed audit set.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leave one case and domain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UI09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No leave-one-out result licenses a population causal claim; the frozen cases are a designed audit set.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exclude simulated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Source-quality sensitivity excluding C-MAPSS simulation.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negative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Arial"/>
                        </a:rPr>
                        <a:t>NC03 returns the pre-specified analytic null; NC01 remains unquantified because transition-cost evidence is absent.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Table S1. Pre-specified model sensitivity.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22960"/>
          <a:ext cx="1170432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926080"/>
                <a:gridCol w="2926080"/>
              </a:tblGrid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Case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Setting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Estimate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Unit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BE03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fixed_schedule_hours: 08:00-18:00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0.0783925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fraction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BE03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fixed_schedule_hours: 07:00-19:00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0.256686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fraction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BE03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fixed_schedule_hours: 06:00-20:00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0.377177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fraction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cost=2;lead=1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0.00232759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cost=2;lead=5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0.00223097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cost=2;lead=10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0.00210467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cost=5;lead=1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0.00259603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cost=5;lead=5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0.00249941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cost=5;lead=10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0.00237311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cost=10;lead=1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0.00300736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cost=10;lead=5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0.00291074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cost=10;lead=10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0.00278444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  <a:tr h="4049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WK07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failure_cost_ratio_and_lead: cost=20;lead=1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0.00300736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Arial"/>
                        </a:rPr>
                        <a:t>normalized cost per cycle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