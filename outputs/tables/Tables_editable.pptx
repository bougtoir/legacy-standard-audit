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Table 1. Legacy Standard Audit stages.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22960"/>
          <a:ext cx="117043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440"/>
                <a:gridCol w="3901440"/>
                <a:gridCol w="3901440"/>
              </a:tblGrid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Audit stage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Required evidence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Decision output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Historical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Objective, information set, feasible set, coordination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Historically defensible incumbent problem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Technology-mediated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Sensing, computation, communication, automation, adaptive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Changed parameter or feasible-set claim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Static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Incumbent and contemporary comparator under a common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Case-specific static benchmark gap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Transition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Switching, compatibility, safety, regulation, network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Transition-adjusted estimate or break-even gate</a:t>
                      </a:r>
                    </a:p>
                  </a:txBody>
                  <a:tcPr/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Frozen cases, uncertainty, null controls, falsification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Material, uncertain, null, or insufficient classification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Table 2. Frozen case design and evidentiary limits.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22960"/>
          <a:ext cx="117043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  <a:gridCol w="1950720"/>
                <a:gridCol w="1950720"/>
                <a:gridCol w="195072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Case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Persisted input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Analysis unit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Contemporary comparator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Critical limitation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BE03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UCI office 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20,560 minute-observations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Perfect-label occupancy comparator, 10-minute 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No sensor error, power, commissioning, or installation cost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WK07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NASA C-MAPSS FD001 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100 evaluation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Perfect remaining-life condition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Simulated trajectories; no observed maintenance program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UI01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OPSD load and day-ahead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725 complete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1.0% bounded load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Fixed prices; no tariff assignment or customer response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UI09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NASA POWER weather and FAO-56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135 evaluation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Perfect-weather reference-crop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No crop coefficient, soil storage, efficiency, or yield model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TR01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Supplementary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NYC directional traffic 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18 evaluation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Demand-proportional directional allocation 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No verified intersection or deployed timing plan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Network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ISO container-standard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Not estimable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Break-even identity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No fleet, conversion, or network-cost data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NC03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Analytic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ISO 216 geometric 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Exact analytic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Positive solution r = √2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rial"/>
                        </a:rPr>
                        <a:t>Applies only to repeated-halving similarity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Table 3. Case-specific technical benchmark results.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22960"/>
          <a:ext cx="117043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864"/>
                <a:gridCol w="2340864"/>
                <a:gridCol w="2340864"/>
                <a:gridCol w="2340864"/>
                <a:gridCol w="2340864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Case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Pre-specified metric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Estimate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95% interval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Classification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BE03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Nominal lighting on-time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25.7%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18.0%–34.9%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small or uncertain mismatch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WK07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Static regret, normalized cost/cycle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0.00250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0.00229–0.00271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material mismatch under oracle benchmark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UI01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Fixed-price arithmetic saving, EUR/MWh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0.068–0.076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small or uncertain mismatch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UI09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Normalized objective regret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36.9%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31.7%–39.9%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material mismatch under oracle benchmark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TR01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Delay-proxy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22.3%–31.0%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insufficient evidence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NC01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Static/transition regret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Not estimated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Not estimated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insufficient evidence</a:t>
                      </a:r>
                    </a:p>
                  </a:txBody>
                  <a:tcPr/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NC03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Repeated-halving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4.930e-32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Exact analytic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 mismatch for repeated halving objective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Table 4. Cross-case falsification: case and domain removal, source quality, thresholds, supported model or loss alternatives, and controls. Counts refer to primary cases meeting the material-mismatch label.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822960"/>
          <a:ext cx="1170432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Test (scope)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Claim weakened?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Interpretation</a:t>
                      </a:r>
                    </a:p>
                  </a:txBody>
                  <a:tcPr>
                    <a:solidFill>
                      <a:srgbClr val="D9EAF7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Baseline (all primary cases)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2 of 4 primary cases meet the oracle-threshold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Descriptive classification count only; no pooled magnitude or population rate.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Leave one primary case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BE03 2/3; WK07 1/3; UI01 2/3; UI09 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Yes—material-count claim (WK07, UI09)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The procedural claim survives; the number of material oracle labels depends on the strongest cases.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Leave one domain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BE03 2/3; WK07 1/3; UI01+UI09 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Yes—material-count claim (WK07, UI01+UI09)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UI01 and UI09 share utilities/infrastructure; domain deletion is not identical to every case deletion.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Remove WK07 and UI09 together (both strongest oracle cases)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0 of 2 retained primary cases meets the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Yes—empirical material-mismatch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The procedural and heterogeneous-outcome claims survive; evidence of material primary mismatch does not.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Exclude simulated C-MAPSS (source-quality sensitivity)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1 of 3 retained primary cases meets the 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Yes—material-count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Material mismatch is not supported by more than one primary case after excluding simulation.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Classification thresholds (lower, pre-specified, higher)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lower (BE03 10%; WK07 2.5%; UI09 2.5%) 3/4; pre-specified (BE03 20%; WK07 5%; UI09 5%) 2/4; higher (BE03 30%; WK07 10%; UI09 10%) 2/4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lower: Yes—classification count; pre-specified: No; higher: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Threshold variation is exploratory; it does not alter the frozen reported classifications.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Model or loss alternatives (BE03: Schedule alternatives)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range 0.0783925 to 0.377177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Yes—case magnitude and threshold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Nominal on-time reduction varies strongly with the assumed fixed schedule.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Model or loss alternatives (WK07: Failure-cost and warning-lead alternatives)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range 0.00210467 to 0.00300736 normalized cost per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No—sign; yes—magnitude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Static regret remains positive across supported settings but remains a simulated perfect-information comparison.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Model or loss alternatives (UI01: Flexible-load fractions)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range 0.0359227 to 0.359227 EUR per MWh baseline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No—interpretation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Arithmetic savings scale with assumed flexibility; customer response and equilibrium remain unidentified.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Model or loss alternatives (UI09: Median/mean calendar rule and shortfall penalties)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range 0.188772 to 0.585607 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No—sign; yes—magnitude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The objective gap remains positive but depends strongly on the normative loss function.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Null and network controls (NC03 and NC01)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NC03 is an exact narrow null; NC01 remains unquantified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No—procedural claim strengthened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Arial"/>
                        </a:rPr>
                        <a:t>The frozen design does not force every incumbent into a redesign narrative.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